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2" r:id="rId17"/>
    <p:sldId id="273" r:id="rId18"/>
    <p:sldId id="274" r:id="rId19"/>
    <p:sldId id="275" r:id="rId20"/>
    <p:sldId id="276" r:id="rId21"/>
    <p:sldId id="277" r:id="rId22"/>
    <p:sldId id="278" r:id="rId23"/>
    <p:sldId id="279"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5BB999C-0923-4579-8578-5E104E7D092E}" v="3" dt="2025-11-11T18:50:17.08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16" autoAdjust="0"/>
    <p:restoredTop sz="94660"/>
  </p:normalViewPr>
  <p:slideViewPr>
    <p:cSldViewPr snapToGrid="0">
      <p:cViewPr varScale="1">
        <p:scale>
          <a:sx n="142" d="100"/>
          <a:sy n="142" d="100"/>
        </p:scale>
        <p:origin x="12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557B570C-AAC1-4504-97AB-0AFBCDF8BDA6}" type="datetimeFigureOut">
              <a:rPr lang="en-US" smtClean="0"/>
              <a:t>11/11/2025</a:t>
            </a:fld>
            <a:endParaRPr lang="en-US"/>
          </a:p>
        </p:txBody>
      </p:sp>
      <p:sp>
        <p:nvSpPr>
          <p:cNvPr id="5" name="Footer Placeholder 4"/>
          <p:cNvSpPr>
            <a:spLocks noGrp="1"/>
          </p:cNvSpPr>
          <p:nvPr>
            <p:ph type="ftr" sz="quarter" idx="11"/>
          </p:nvPr>
        </p:nvSpPr>
        <p:spPr>
          <a:xfrm>
            <a:off x="2692397" y="5037663"/>
            <a:ext cx="5214635" cy="279400"/>
          </a:xfrm>
        </p:spPr>
        <p:txBody>
          <a:bodyPr/>
          <a:lstStyle/>
          <a:p>
            <a:endParaRPr lang="en-US"/>
          </a:p>
        </p:txBody>
      </p:sp>
      <p:sp>
        <p:nvSpPr>
          <p:cNvPr id="6" name="Slide Number Placeholder 5"/>
          <p:cNvSpPr>
            <a:spLocks noGrp="1"/>
          </p:cNvSpPr>
          <p:nvPr>
            <p:ph type="sldNum" sz="quarter" idx="12"/>
          </p:nvPr>
        </p:nvSpPr>
        <p:spPr>
          <a:xfrm>
            <a:off x="8956900" y="5037663"/>
            <a:ext cx="551167" cy="279400"/>
          </a:xfrm>
        </p:spPr>
        <p:txBody>
          <a:bodyPr/>
          <a:lstStyle/>
          <a:p>
            <a:fld id="{4E8C412C-04B6-4CD2-8800-E57683F3A681}" type="slidenum">
              <a:rPr lang="en-US" smtClean="0"/>
              <a:t>‹#›</a:t>
            </a:fld>
            <a:endParaRPr lang="en-US"/>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941487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7B570C-AAC1-4504-97AB-0AFBCDF8BDA6}" type="datetimeFigureOut">
              <a:rPr lang="en-US" smtClean="0"/>
              <a:t>11/11/2025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E8C412C-04B6-4CD2-8800-E57683F3A681}" type="slidenum">
              <a:rPr lang="en-US" smtClean="0"/>
              <a:t>‹#›</a:t>
            </a:fld>
            <a:endParaRPr lang="en-US"/>
          </a:p>
        </p:txBody>
      </p:sp>
    </p:spTree>
    <p:extLst>
      <p:ext uri="{BB962C8B-B14F-4D97-AF65-F5344CB8AC3E}">
        <p14:creationId xmlns:p14="http://schemas.microsoft.com/office/powerpoint/2010/main" val="14741039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57B570C-AAC1-4504-97AB-0AFBCDF8BDA6}" type="datetimeFigureOut">
              <a:rPr lang="en-US" smtClean="0"/>
              <a:t>11/11/2025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E8C412C-04B6-4CD2-8800-E57683F3A681}" type="slidenum">
              <a:rPr lang="en-US" smtClean="0"/>
              <a:t>‹#›</a:t>
            </a:fld>
            <a:endParaRPr lang="en-US"/>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5148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57B570C-AAC1-4504-97AB-0AFBCDF8BDA6}" type="datetimeFigureOut">
              <a:rPr lang="en-US" smtClean="0"/>
              <a:t>11/11/2025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E8C412C-04B6-4CD2-8800-E57683F3A681}" type="slidenum">
              <a:rPr lang="en-US" smtClean="0"/>
              <a:t>‹#›</a:t>
            </a:fld>
            <a:endParaRPr lang="en-US"/>
          </a:p>
        </p:txBody>
      </p:sp>
    </p:spTree>
    <p:extLst>
      <p:ext uri="{BB962C8B-B14F-4D97-AF65-F5344CB8AC3E}">
        <p14:creationId xmlns:p14="http://schemas.microsoft.com/office/powerpoint/2010/main" val="31911318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57B570C-AAC1-4504-97AB-0AFBCDF8BDA6}" type="datetimeFigureOut">
              <a:rPr lang="en-US" smtClean="0"/>
              <a:t>11/11/2025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E8C412C-04B6-4CD2-8800-E57683F3A681}" type="slidenum">
              <a:rPr lang="en-US" smtClean="0"/>
              <a:t>‹#›</a:t>
            </a:fld>
            <a:endParaRPr lang="en-US"/>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240561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57B570C-AAC1-4504-97AB-0AFBCDF8BDA6}" type="datetimeFigureOut">
              <a:rPr lang="en-US" smtClean="0"/>
              <a:t>11/11/2025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E8C412C-04B6-4CD2-8800-E57683F3A681}" type="slidenum">
              <a:rPr lang="en-US" smtClean="0"/>
              <a:t>‹#›</a:t>
            </a:fld>
            <a:endParaRPr lang="en-US"/>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788075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57B570C-AAC1-4504-97AB-0AFBCDF8BDA6}" type="datetimeFigureOut">
              <a:rPr lang="en-US" smtClean="0"/>
              <a:t>11/11/2025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E8C412C-04B6-4CD2-8800-E57683F3A681}" type="slidenum">
              <a:rPr lang="en-US" smtClean="0"/>
              <a:t>‹#›</a:t>
            </a:fld>
            <a:endParaRPr lang="en-US"/>
          </a:p>
        </p:txBody>
      </p:sp>
    </p:spTree>
    <p:extLst>
      <p:ext uri="{BB962C8B-B14F-4D97-AF65-F5344CB8AC3E}">
        <p14:creationId xmlns:p14="http://schemas.microsoft.com/office/powerpoint/2010/main" val="5800109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57B570C-AAC1-4504-97AB-0AFBCDF8BDA6}" type="datetimeFigureOut">
              <a:rPr lang="en-US" smtClean="0"/>
              <a:t>11/11/2025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E8C412C-04B6-4CD2-8800-E57683F3A681}" type="slidenum">
              <a:rPr lang="en-US" smtClean="0"/>
              <a:t>‹#›</a:t>
            </a:fld>
            <a:endParaRPr lang="en-US"/>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720047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57B570C-AAC1-4504-97AB-0AFBCDF8BDA6}" type="datetimeFigureOut">
              <a:rPr lang="en-US" smtClean="0"/>
              <a:t>11/11/2025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E8C412C-04B6-4CD2-8800-E57683F3A681}" type="slidenum">
              <a:rPr lang="en-US" smtClean="0"/>
              <a:t>‹#›</a:t>
            </a:fld>
            <a:endParaRPr lang="en-US"/>
          </a:p>
        </p:txBody>
      </p:sp>
    </p:spTree>
    <p:extLst>
      <p:ext uri="{BB962C8B-B14F-4D97-AF65-F5344CB8AC3E}">
        <p14:creationId xmlns:p14="http://schemas.microsoft.com/office/powerpoint/2010/main" val="40501287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57B570C-AAC1-4504-97AB-0AFBCDF8BDA6}" type="datetimeFigureOut">
              <a:rPr lang="en-US" smtClean="0"/>
              <a:t>11/11/2025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E8C412C-04B6-4CD2-8800-E57683F3A681}" type="slidenum">
              <a:rPr lang="en-US" smtClean="0"/>
              <a:t>‹#›</a:t>
            </a:fld>
            <a:endParaRPr lang="en-US"/>
          </a:p>
        </p:txBody>
      </p:sp>
    </p:spTree>
    <p:extLst>
      <p:ext uri="{BB962C8B-B14F-4D97-AF65-F5344CB8AC3E}">
        <p14:creationId xmlns:p14="http://schemas.microsoft.com/office/powerpoint/2010/main" val="18359109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57B570C-AAC1-4504-97AB-0AFBCDF8BDA6}" type="datetimeFigureOut">
              <a:rPr lang="en-US" smtClean="0"/>
              <a:t>11/11/2025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E8C412C-04B6-4CD2-8800-E57683F3A681}" type="slidenum">
              <a:rPr lang="en-US" smtClean="0"/>
              <a:t>‹#›</a:t>
            </a:fld>
            <a:endParaRPr lang="en-US"/>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1642077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57B570C-AAC1-4504-97AB-0AFBCDF8BDA6}" type="datetimeFigureOut">
              <a:rPr lang="en-US" smtClean="0"/>
              <a:t>11/11/2025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E8C412C-04B6-4CD2-8800-E57683F3A681}" type="slidenum">
              <a:rPr lang="en-US" smtClean="0"/>
              <a:t>‹#›</a:t>
            </a:fld>
            <a:endParaRPr lang="en-US"/>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6567434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57B570C-AAC1-4504-97AB-0AFBCDF8BDA6}" type="datetimeFigureOut">
              <a:rPr lang="en-US" smtClean="0"/>
              <a:t>11/11/2025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E8C412C-04B6-4CD2-8800-E57683F3A681}" type="slidenum">
              <a:rPr lang="en-US" smtClean="0"/>
              <a:t>‹#›</a:t>
            </a:fld>
            <a:endParaRPr lang="en-US"/>
          </a:p>
        </p:txBody>
      </p:sp>
    </p:spTree>
    <p:extLst>
      <p:ext uri="{BB962C8B-B14F-4D97-AF65-F5344CB8AC3E}">
        <p14:creationId xmlns:p14="http://schemas.microsoft.com/office/powerpoint/2010/main" val="42709936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57B570C-AAC1-4504-97AB-0AFBCDF8BDA6}" type="datetimeFigureOut">
              <a:rPr lang="en-US" smtClean="0"/>
              <a:t>11/11/2025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E8C412C-04B6-4CD2-8800-E57683F3A681}" type="slidenum">
              <a:rPr lang="en-US" smtClean="0"/>
              <a:t>‹#›</a:t>
            </a:fld>
            <a:endParaRPr lang="en-US"/>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4840001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57B570C-AAC1-4504-97AB-0AFBCDF8BDA6}" type="datetimeFigureOut">
              <a:rPr lang="en-US" smtClean="0"/>
              <a:t>11/11/2025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E8C412C-04B6-4CD2-8800-E57683F3A681}" type="slidenum">
              <a:rPr lang="en-US" smtClean="0"/>
              <a:t>‹#›</a:t>
            </a:fld>
            <a:endParaRPr lang="en-US"/>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0516878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7B570C-AAC1-4504-97AB-0AFBCDF8BDA6}" type="datetimeFigureOut">
              <a:rPr lang="en-US" smtClean="0"/>
              <a:t>11/11/2025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E8C412C-04B6-4CD2-8800-E57683F3A681}" type="slidenum">
              <a:rPr lang="en-US" smtClean="0"/>
              <a:t>‹#›</a:t>
            </a:fld>
            <a:endParaRPr lang="en-US"/>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29809972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7B570C-AAC1-4504-97AB-0AFBCDF8BDA6}" type="datetimeFigureOut">
              <a:rPr lang="en-US" smtClean="0"/>
              <a:t>11/11/2025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E8C412C-04B6-4CD2-8800-E57683F3A681}" type="slidenum">
              <a:rPr lang="en-US" smtClean="0"/>
              <a:t>‹#›</a:t>
            </a:fld>
            <a:endParaRPr lang="en-US"/>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83476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557B570C-AAC1-4504-97AB-0AFBCDF8BDA6}" type="datetimeFigureOut">
              <a:rPr lang="en-US" smtClean="0"/>
              <a:t>11/11/2025</a:t>
            </a:fld>
            <a:endParaRPr lang="en-US"/>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4E8C412C-04B6-4CD2-8800-E57683F3A681}" type="slidenum">
              <a:rPr lang="en-US" smtClean="0"/>
              <a:t>‹#›</a:t>
            </a:fld>
            <a:endParaRPr lang="en-US"/>
          </a:p>
        </p:txBody>
      </p:sp>
    </p:spTree>
    <p:extLst>
      <p:ext uri="{BB962C8B-B14F-4D97-AF65-F5344CB8AC3E}">
        <p14:creationId xmlns:p14="http://schemas.microsoft.com/office/powerpoint/2010/main" val="273673083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5007C4-D1BE-BBDD-6EC9-EA7F7C7C736F}"/>
              </a:ext>
            </a:extLst>
          </p:cNvPr>
          <p:cNvSpPr>
            <a:spLocks noGrp="1"/>
          </p:cNvSpPr>
          <p:nvPr>
            <p:ph type="ctrTitle"/>
          </p:nvPr>
        </p:nvSpPr>
        <p:spPr/>
        <p:txBody>
          <a:bodyPr/>
          <a:lstStyle/>
          <a:p>
            <a:r>
              <a:rPr lang="en-US" dirty="0"/>
              <a:t>Group 3 - Naive Bayes Classification Project</a:t>
            </a:r>
          </a:p>
        </p:txBody>
      </p:sp>
      <p:sp>
        <p:nvSpPr>
          <p:cNvPr id="3" name="Subtitle 2">
            <a:extLst>
              <a:ext uri="{FF2B5EF4-FFF2-40B4-BE49-F238E27FC236}">
                <a16:creationId xmlns:a16="http://schemas.microsoft.com/office/drawing/2014/main" id="{D763770E-5E10-FDEB-EA0D-DDF8E43D684C}"/>
              </a:ext>
            </a:extLst>
          </p:cNvPr>
          <p:cNvSpPr>
            <a:spLocks noGrp="1"/>
          </p:cNvSpPr>
          <p:nvPr>
            <p:ph type="subTitle" idx="1"/>
          </p:nvPr>
        </p:nvSpPr>
        <p:spPr/>
        <p:txBody>
          <a:bodyPr/>
          <a:lstStyle/>
          <a:p>
            <a:r>
              <a:rPr lang="en-US" dirty="0"/>
              <a:t>OMP 3009 - Applied Math for Data Science &amp; AI Jordon Abrams, Jonny Tahai, Sam Kippur November 17th, 2025</a:t>
            </a:r>
          </a:p>
        </p:txBody>
      </p:sp>
    </p:spTree>
    <p:extLst>
      <p:ext uri="{BB962C8B-B14F-4D97-AF65-F5344CB8AC3E}">
        <p14:creationId xmlns:p14="http://schemas.microsoft.com/office/powerpoint/2010/main" val="37461509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C40E9E-3165-C2E0-A744-5DA0A90871F1}"/>
              </a:ext>
            </a:extLst>
          </p:cNvPr>
          <p:cNvSpPr>
            <a:spLocks noGrp="1"/>
          </p:cNvSpPr>
          <p:nvPr>
            <p:ph type="title"/>
          </p:nvPr>
        </p:nvSpPr>
        <p:spPr/>
        <p:txBody>
          <a:bodyPr/>
          <a:lstStyle/>
          <a:p>
            <a:r>
              <a:rPr lang="en-US" dirty="0"/>
              <a:t>Introduction</a:t>
            </a:r>
          </a:p>
        </p:txBody>
      </p:sp>
      <p:sp>
        <p:nvSpPr>
          <p:cNvPr id="3" name="Content Placeholder 2">
            <a:extLst>
              <a:ext uri="{FF2B5EF4-FFF2-40B4-BE49-F238E27FC236}">
                <a16:creationId xmlns:a16="http://schemas.microsoft.com/office/drawing/2014/main" id="{BAFE8FF7-D5A8-E158-7D13-1BF2A3E9B79B}"/>
              </a:ext>
            </a:extLst>
          </p:cNvPr>
          <p:cNvSpPr>
            <a:spLocks noGrp="1"/>
          </p:cNvSpPr>
          <p:nvPr>
            <p:ph idx="1"/>
          </p:nvPr>
        </p:nvSpPr>
        <p:spPr/>
        <p:txBody>
          <a:bodyPr/>
          <a:lstStyle/>
          <a:p>
            <a:r>
              <a:rPr lang="en-US" dirty="0"/>
              <a:t>This project explores the Naive Bayes classification algorithm using a small weather dataset. The goal is to predict whether it will rain based on four features: Outlook, Temperature, Humidity, and Windy. By computing the probabilities manually and validating the model using Leave-One-Out Cross-Validation, we connect the mathematical theory directly to executable code. This provides a complete demonstration of how Bayes' theorem powers classification systems.</a:t>
            </a:r>
          </a:p>
        </p:txBody>
      </p:sp>
    </p:spTree>
    <p:extLst>
      <p:ext uri="{BB962C8B-B14F-4D97-AF65-F5344CB8AC3E}">
        <p14:creationId xmlns:p14="http://schemas.microsoft.com/office/powerpoint/2010/main" val="2951132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CC1821-A6EF-32FA-1DCA-33A156FBB90B}"/>
              </a:ext>
            </a:extLst>
          </p:cNvPr>
          <p:cNvSpPr>
            <a:spLocks noGrp="1"/>
          </p:cNvSpPr>
          <p:nvPr>
            <p:ph type="title"/>
          </p:nvPr>
        </p:nvSpPr>
        <p:spPr/>
        <p:txBody>
          <a:bodyPr/>
          <a:lstStyle/>
          <a:p>
            <a:r>
              <a:rPr lang="en-US" dirty="0"/>
              <a:t>Why Naive Bayes Still Matters</a:t>
            </a:r>
          </a:p>
        </p:txBody>
      </p:sp>
      <p:sp>
        <p:nvSpPr>
          <p:cNvPr id="3" name="Content Placeholder 2">
            <a:extLst>
              <a:ext uri="{FF2B5EF4-FFF2-40B4-BE49-F238E27FC236}">
                <a16:creationId xmlns:a16="http://schemas.microsoft.com/office/drawing/2014/main" id="{59D73F77-78A3-9DB1-3A6A-C33644CE945F}"/>
              </a:ext>
            </a:extLst>
          </p:cNvPr>
          <p:cNvSpPr>
            <a:spLocks noGrp="1"/>
          </p:cNvSpPr>
          <p:nvPr>
            <p:ph idx="1"/>
          </p:nvPr>
        </p:nvSpPr>
        <p:spPr/>
        <p:txBody>
          <a:bodyPr/>
          <a:lstStyle/>
          <a:p>
            <a:r>
              <a:rPr lang="en-US" dirty="0"/>
              <a:t>Even though our project used only 14 days of weather, Naive Bayes secretly has an incredibly busy life in the real world. It works behind the scenes anytime a fast decision is needed with limited information — kind of like a detective who is great at making quick, logical guesses. Here are some places where Naive Bayes is quietly doing the heavy lifting</a:t>
            </a:r>
          </a:p>
        </p:txBody>
      </p:sp>
    </p:spTree>
    <p:extLst>
      <p:ext uri="{BB962C8B-B14F-4D97-AF65-F5344CB8AC3E}">
        <p14:creationId xmlns:p14="http://schemas.microsoft.com/office/powerpoint/2010/main" val="30599428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0273B7-C39C-0C84-D461-F9143E67FA55}"/>
              </a:ext>
            </a:extLst>
          </p:cNvPr>
          <p:cNvSpPr>
            <a:spLocks noGrp="1"/>
          </p:cNvSpPr>
          <p:nvPr>
            <p:ph type="title"/>
          </p:nvPr>
        </p:nvSpPr>
        <p:spPr/>
        <p:txBody>
          <a:bodyPr/>
          <a:lstStyle/>
          <a:p>
            <a:r>
              <a:rPr lang="en-US" dirty="0"/>
              <a:t>Email &amp; Text Classification </a:t>
            </a:r>
          </a:p>
        </p:txBody>
      </p:sp>
      <p:sp>
        <p:nvSpPr>
          <p:cNvPr id="3" name="Content Placeholder 2">
            <a:extLst>
              <a:ext uri="{FF2B5EF4-FFF2-40B4-BE49-F238E27FC236}">
                <a16:creationId xmlns:a16="http://schemas.microsoft.com/office/drawing/2014/main" id="{9603835D-8DC0-4CBF-07B3-21771566193C}"/>
              </a:ext>
            </a:extLst>
          </p:cNvPr>
          <p:cNvSpPr>
            <a:spLocks noGrp="1"/>
          </p:cNvSpPr>
          <p:nvPr>
            <p:ph idx="1"/>
          </p:nvPr>
        </p:nvSpPr>
        <p:spPr>
          <a:xfrm>
            <a:off x="838200" y="2447365"/>
            <a:ext cx="10515600" cy="3729598"/>
          </a:xfrm>
        </p:spPr>
        <p:txBody>
          <a:bodyPr/>
          <a:lstStyle/>
          <a:p>
            <a:pPr marL="0" indent="0">
              <a:buNone/>
            </a:pPr>
            <a:r>
              <a:rPr lang="en-US" dirty="0"/>
              <a:t>Whether something is spam, ham, urgent, or probably a scam, Naive Bayes is often the first filter reading the subject line and keywords before you ever see the message.</a:t>
            </a:r>
          </a:p>
        </p:txBody>
      </p:sp>
    </p:spTree>
    <p:extLst>
      <p:ext uri="{BB962C8B-B14F-4D97-AF65-F5344CB8AC3E}">
        <p14:creationId xmlns:p14="http://schemas.microsoft.com/office/powerpoint/2010/main" val="20362690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6C7B43-71A0-17A3-F4D6-4645C00AD030}"/>
              </a:ext>
            </a:extLst>
          </p:cNvPr>
          <p:cNvSpPr>
            <a:spLocks noGrp="1"/>
          </p:cNvSpPr>
          <p:nvPr>
            <p:ph type="title"/>
          </p:nvPr>
        </p:nvSpPr>
        <p:spPr/>
        <p:txBody>
          <a:bodyPr/>
          <a:lstStyle/>
          <a:p>
            <a:r>
              <a:rPr lang="en-US" dirty="0"/>
              <a:t>Medical Diagnostics</a:t>
            </a:r>
          </a:p>
        </p:txBody>
      </p:sp>
      <p:sp>
        <p:nvSpPr>
          <p:cNvPr id="3" name="Content Placeholder 2">
            <a:extLst>
              <a:ext uri="{FF2B5EF4-FFF2-40B4-BE49-F238E27FC236}">
                <a16:creationId xmlns:a16="http://schemas.microsoft.com/office/drawing/2014/main" id="{89593847-84DB-B611-6064-9B5669B1428D}"/>
              </a:ext>
            </a:extLst>
          </p:cNvPr>
          <p:cNvSpPr>
            <a:spLocks noGrp="1"/>
          </p:cNvSpPr>
          <p:nvPr>
            <p:ph idx="1"/>
          </p:nvPr>
        </p:nvSpPr>
        <p:spPr/>
        <p:txBody>
          <a:bodyPr/>
          <a:lstStyle/>
          <a:p>
            <a:pPr marL="0" indent="0">
              <a:buNone/>
            </a:pPr>
            <a:r>
              <a:rPr lang="en-US" dirty="0"/>
              <a:t>If symptoms = {cough, fever, loss of taste}, the algorithm helps decide: “Is this a cold, flu, or something more serious?” — using probability instead of panic</a:t>
            </a:r>
          </a:p>
        </p:txBody>
      </p:sp>
    </p:spTree>
    <p:extLst>
      <p:ext uri="{BB962C8B-B14F-4D97-AF65-F5344CB8AC3E}">
        <p14:creationId xmlns:p14="http://schemas.microsoft.com/office/powerpoint/2010/main" val="18636916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679300-32B5-80A5-A951-E6E824E06D11}"/>
              </a:ext>
            </a:extLst>
          </p:cNvPr>
          <p:cNvSpPr>
            <a:spLocks noGrp="1"/>
          </p:cNvSpPr>
          <p:nvPr>
            <p:ph type="title"/>
          </p:nvPr>
        </p:nvSpPr>
        <p:spPr/>
        <p:txBody>
          <a:bodyPr/>
          <a:lstStyle/>
          <a:p>
            <a:r>
              <a:rPr lang="en-US" dirty="0"/>
              <a:t>Real-Time Recommendations</a:t>
            </a:r>
          </a:p>
        </p:txBody>
      </p:sp>
      <p:sp>
        <p:nvSpPr>
          <p:cNvPr id="3" name="Content Placeholder 2">
            <a:extLst>
              <a:ext uri="{FF2B5EF4-FFF2-40B4-BE49-F238E27FC236}">
                <a16:creationId xmlns:a16="http://schemas.microsoft.com/office/drawing/2014/main" id="{CD737451-B77B-3BE6-E6C8-D3467DD9C1A1}"/>
              </a:ext>
            </a:extLst>
          </p:cNvPr>
          <p:cNvSpPr>
            <a:spLocks noGrp="1"/>
          </p:cNvSpPr>
          <p:nvPr>
            <p:ph idx="1"/>
          </p:nvPr>
        </p:nvSpPr>
        <p:spPr/>
        <p:txBody>
          <a:bodyPr/>
          <a:lstStyle/>
          <a:p>
            <a:pPr marL="0" indent="0">
              <a:buNone/>
            </a:pPr>
            <a:r>
              <a:rPr lang="en-US" dirty="0"/>
              <a:t>Shopping websites estimate what you might love based on simple signals: “You clicked on hiking boots, so you probably like outdoorsy things.”</a:t>
            </a:r>
          </a:p>
        </p:txBody>
      </p:sp>
    </p:spTree>
    <p:extLst>
      <p:ext uri="{BB962C8B-B14F-4D97-AF65-F5344CB8AC3E}">
        <p14:creationId xmlns:p14="http://schemas.microsoft.com/office/powerpoint/2010/main" val="15079150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B08D38-D7DD-D88F-ECC6-C54D77994AA5}"/>
              </a:ext>
            </a:extLst>
          </p:cNvPr>
          <p:cNvSpPr>
            <a:spLocks noGrp="1"/>
          </p:cNvSpPr>
          <p:nvPr>
            <p:ph type="title"/>
          </p:nvPr>
        </p:nvSpPr>
        <p:spPr/>
        <p:txBody>
          <a:bodyPr/>
          <a:lstStyle/>
          <a:p>
            <a:r>
              <a:rPr lang="en-US" dirty="0"/>
              <a:t>Sentiment Analysis</a:t>
            </a:r>
          </a:p>
        </p:txBody>
      </p:sp>
      <p:sp>
        <p:nvSpPr>
          <p:cNvPr id="3" name="Content Placeholder 2">
            <a:extLst>
              <a:ext uri="{FF2B5EF4-FFF2-40B4-BE49-F238E27FC236}">
                <a16:creationId xmlns:a16="http://schemas.microsoft.com/office/drawing/2014/main" id="{1D7822AB-B220-6BAE-D617-0B271C1F0142}"/>
              </a:ext>
            </a:extLst>
          </p:cNvPr>
          <p:cNvSpPr>
            <a:spLocks noGrp="1"/>
          </p:cNvSpPr>
          <p:nvPr>
            <p:ph idx="1"/>
          </p:nvPr>
        </p:nvSpPr>
        <p:spPr/>
        <p:txBody>
          <a:bodyPr/>
          <a:lstStyle/>
          <a:p>
            <a:pPr marL="0" indent="0">
              <a:buNone/>
            </a:pPr>
            <a:r>
              <a:rPr lang="en-US" dirty="0"/>
              <a:t>Companies use Naive Bayes to check if people on social media are praising their product or calling it “the worst purchase ever.”</a:t>
            </a:r>
          </a:p>
        </p:txBody>
      </p:sp>
    </p:spTree>
    <p:extLst>
      <p:ext uri="{BB962C8B-B14F-4D97-AF65-F5344CB8AC3E}">
        <p14:creationId xmlns:p14="http://schemas.microsoft.com/office/powerpoint/2010/main" val="31748818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7E4ED1-4469-6E2D-7642-0DEF5D69CE31}"/>
              </a:ext>
            </a:extLst>
          </p:cNvPr>
          <p:cNvSpPr>
            <a:spLocks noGrp="1"/>
          </p:cNvSpPr>
          <p:nvPr>
            <p:ph type="title"/>
          </p:nvPr>
        </p:nvSpPr>
        <p:spPr/>
        <p:txBody>
          <a:bodyPr/>
          <a:lstStyle/>
          <a:p>
            <a:r>
              <a:rPr lang="en-US" dirty="0"/>
              <a:t>Cybersecurity Alerts</a:t>
            </a:r>
          </a:p>
        </p:txBody>
      </p:sp>
      <p:sp>
        <p:nvSpPr>
          <p:cNvPr id="3" name="Content Placeholder 2">
            <a:extLst>
              <a:ext uri="{FF2B5EF4-FFF2-40B4-BE49-F238E27FC236}">
                <a16:creationId xmlns:a16="http://schemas.microsoft.com/office/drawing/2014/main" id="{970F71B9-4996-8D60-5CC4-D37A00DDC670}"/>
              </a:ext>
            </a:extLst>
          </p:cNvPr>
          <p:cNvSpPr>
            <a:spLocks noGrp="1"/>
          </p:cNvSpPr>
          <p:nvPr>
            <p:ph idx="1"/>
          </p:nvPr>
        </p:nvSpPr>
        <p:spPr/>
        <p:txBody>
          <a:bodyPr/>
          <a:lstStyle/>
          <a:p>
            <a:pPr marL="0" indent="0">
              <a:buNone/>
            </a:pPr>
            <a:r>
              <a:rPr lang="en-US" dirty="0"/>
              <a:t>When network traffic suddenly looks suspicious, the model doesn’t wait — it raises a red flag based on patterns it has learned.</a:t>
            </a:r>
          </a:p>
        </p:txBody>
      </p:sp>
    </p:spTree>
    <p:extLst>
      <p:ext uri="{BB962C8B-B14F-4D97-AF65-F5344CB8AC3E}">
        <p14:creationId xmlns:p14="http://schemas.microsoft.com/office/powerpoint/2010/main" val="8700782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E6DB222-355E-E8BB-A88F-DDE00858F09D}"/>
              </a:ext>
            </a:extLst>
          </p:cNvPr>
          <p:cNvSpPr>
            <a:spLocks noGrp="1"/>
          </p:cNvSpPr>
          <p:nvPr>
            <p:ph idx="1"/>
          </p:nvPr>
        </p:nvSpPr>
        <p:spPr>
          <a:xfrm>
            <a:off x="838200" y="693683"/>
            <a:ext cx="10515600" cy="5483280"/>
          </a:xfrm>
        </p:spPr>
        <p:txBody>
          <a:bodyPr>
            <a:normAutofit/>
          </a:bodyPr>
          <a:lstStyle/>
          <a:p>
            <a:r>
              <a:rPr lang="en-US" dirty="0"/>
              <a:t>Even though it assumes all features are independent (which we know is rarely true), Naive Bayes still performs shockingly well — especially when:</a:t>
            </a:r>
          </a:p>
          <a:p>
            <a:r>
              <a:rPr lang="en-US" dirty="0"/>
              <a:t> datasets are small </a:t>
            </a:r>
          </a:p>
          <a:p>
            <a:r>
              <a:rPr lang="en-US" dirty="0"/>
              <a:t> predictions need to be extremely fast </a:t>
            </a:r>
          </a:p>
          <a:p>
            <a:r>
              <a:rPr lang="en-US" dirty="0"/>
              <a:t> interpretability is important </a:t>
            </a:r>
          </a:p>
          <a:p>
            <a:r>
              <a:rPr lang="en-US" dirty="0"/>
              <a:t> categorical features dominate This simplicity is a superpower.             Many modern machine learning systems start with Naive Bayes as a benchmark — proving that sometimes the most “naive” idea is actually the smartest one in the </a:t>
            </a:r>
            <a:r>
              <a:rPr lang="en-US" dirty="0" err="1"/>
              <a:t>ro</a:t>
            </a:r>
            <a:endParaRPr lang="en-US" dirty="0"/>
          </a:p>
        </p:txBody>
      </p:sp>
    </p:spTree>
    <p:extLst>
      <p:ext uri="{BB962C8B-B14F-4D97-AF65-F5344CB8AC3E}">
        <p14:creationId xmlns:p14="http://schemas.microsoft.com/office/powerpoint/2010/main" val="8291660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C3587D-7F5A-BDD7-8497-E1EED0ED5BC0}"/>
              </a:ext>
            </a:extLst>
          </p:cNvPr>
          <p:cNvSpPr>
            <a:spLocks noGrp="1"/>
          </p:cNvSpPr>
          <p:nvPr>
            <p:ph type="title"/>
          </p:nvPr>
        </p:nvSpPr>
        <p:spPr/>
        <p:txBody>
          <a:bodyPr>
            <a:normAutofit fontScale="90000"/>
          </a:bodyPr>
          <a:lstStyle/>
          <a:p>
            <a:r>
              <a:rPr lang="en-US" dirty="0"/>
              <a:t>Connecting the Project to the Course Objectives</a:t>
            </a:r>
          </a:p>
        </p:txBody>
      </p:sp>
      <p:sp>
        <p:nvSpPr>
          <p:cNvPr id="3" name="Content Placeholder 2">
            <a:extLst>
              <a:ext uri="{FF2B5EF4-FFF2-40B4-BE49-F238E27FC236}">
                <a16:creationId xmlns:a16="http://schemas.microsoft.com/office/drawing/2014/main" id="{86C22B43-79F5-2EF5-7628-6AD2A3A6F6F9}"/>
              </a:ext>
            </a:extLst>
          </p:cNvPr>
          <p:cNvSpPr>
            <a:spLocks noGrp="1"/>
          </p:cNvSpPr>
          <p:nvPr>
            <p:ph idx="1"/>
          </p:nvPr>
        </p:nvSpPr>
        <p:spPr>
          <a:xfrm>
            <a:off x="779929" y="2427195"/>
            <a:ext cx="10839257" cy="3448674"/>
          </a:xfrm>
        </p:spPr>
        <p:txBody>
          <a:bodyPr>
            <a:normAutofit fontScale="92500" lnSpcReduction="20000"/>
          </a:bodyPr>
          <a:lstStyle/>
          <a:p>
            <a:pPr marL="0" indent="0">
              <a:buNone/>
            </a:pPr>
            <a:r>
              <a:rPr lang="en-US" dirty="0"/>
              <a:t>This project connects mathematical concepts directly to algorithmic implementation. </a:t>
            </a:r>
          </a:p>
          <a:p>
            <a:pPr marL="0" indent="0">
              <a:buNone/>
            </a:pPr>
            <a:r>
              <a:rPr lang="en-US" dirty="0"/>
              <a:t>Bayes' theorem serves as the foundation, showing how theoretical probability translates into code that can make real predictions. </a:t>
            </a:r>
          </a:p>
          <a:p>
            <a:pPr marL="0" indent="0">
              <a:buNone/>
            </a:pPr>
            <a:r>
              <a:rPr lang="en-US" dirty="0"/>
              <a:t>The project uses Bayes' theorem, written as: P(Y|X) = [P(X|Y) × P(Y)] / P(X). </a:t>
            </a:r>
          </a:p>
          <a:p>
            <a:pPr marL="0" indent="0">
              <a:buNone/>
            </a:pPr>
            <a:r>
              <a:rPr lang="en-US" dirty="0"/>
              <a:t>This relationship guided the entire implementation. By calculating priors and likelihoods, the program determines how probable it is that it will rain given observed weather conditions.</a:t>
            </a:r>
          </a:p>
          <a:p>
            <a:pPr marL="0" indent="0">
              <a:buNone/>
            </a:pPr>
            <a:r>
              <a:rPr lang="en-US" dirty="0"/>
              <a:t>Probability is central to the model. Linear algebra principles appear in the way we represent categorical data as discrete, countable values. Laplace smoothing (alpha = 1) prevents zero probabilities and ensures numerical stability. Finally, this work demonstrates how such fundamental math ideas remain in use across modern ML systems.</a:t>
            </a:r>
          </a:p>
        </p:txBody>
      </p:sp>
    </p:spTree>
    <p:extLst>
      <p:ext uri="{BB962C8B-B14F-4D97-AF65-F5344CB8AC3E}">
        <p14:creationId xmlns:p14="http://schemas.microsoft.com/office/powerpoint/2010/main" val="7497964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72001A-6985-CA93-9B9E-0E9058C69438}"/>
              </a:ext>
            </a:extLst>
          </p:cNvPr>
          <p:cNvSpPr>
            <a:spLocks noGrp="1"/>
          </p:cNvSpPr>
          <p:nvPr>
            <p:ph type="title"/>
          </p:nvPr>
        </p:nvSpPr>
        <p:spPr/>
        <p:txBody>
          <a:bodyPr/>
          <a:lstStyle/>
          <a:p>
            <a:r>
              <a:rPr lang="en-US" dirty="0"/>
              <a:t>Mathematical Foundation</a:t>
            </a:r>
          </a:p>
        </p:txBody>
      </p:sp>
      <p:sp>
        <p:nvSpPr>
          <p:cNvPr id="3" name="Content Placeholder 2">
            <a:extLst>
              <a:ext uri="{FF2B5EF4-FFF2-40B4-BE49-F238E27FC236}">
                <a16:creationId xmlns:a16="http://schemas.microsoft.com/office/drawing/2014/main" id="{F6DF0009-29BF-F11E-8886-D4EEF780A2EC}"/>
              </a:ext>
            </a:extLst>
          </p:cNvPr>
          <p:cNvSpPr>
            <a:spLocks noGrp="1"/>
          </p:cNvSpPr>
          <p:nvPr>
            <p:ph idx="1"/>
          </p:nvPr>
        </p:nvSpPr>
        <p:spPr/>
        <p:txBody>
          <a:bodyPr/>
          <a:lstStyle/>
          <a:p>
            <a:r>
              <a:rPr lang="en-US" dirty="0"/>
              <a:t>Bayes' theorem provides the rule for updating the probability of a hypothesis based on new evidence. In this project, the hypothesis is whether it will rain (Yes or No), and the evidence is a set of observed weather features. Since P(X) is constant across classes, the model focuses on maximizing P(Y) × Π P(xi | Y). The Naive assumption states that all features are conditionally independent given the class: P(x1, x2, ..., </a:t>
            </a:r>
            <a:r>
              <a:rPr lang="en-US" dirty="0" err="1"/>
              <a:t>xn</a:t>
            </a:r>
            <a:r>
              <a:rPr lang="en-US" dirty="0"/>
              <a:t> | Y) = Π P(xi | Y) Although this assumption is rarely true, it dramatically simplifies computation while still performing well.</a:t>
            </a:r>
          </a:p>
        </p:txBody>
      </p:sp>
    </p:spTree>
    <p:extLst>
      <p:ext uri="{BB962C8B-B14F-4D97-AF65-F5344CB8AC3E}">
        <p14:creationId xmlns:p14="http://schemas.microsoft.com/office/powerpoint/2010/main" val="1718422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D78992-8470-B6C1-54A8-78B8C1DCEA1F}"/>
              </a:ext>
            </a:extLst>
          </p:cNvPr>
          <p:cNvSpPr>
            <a:spLocks noGrp="1"/>
          </p:cNvSpPr>
          <p:nvPr>
            <p:ph type="title"/>
          </p:nvPr>
        </p:nvSpPr>
        <p:spPr/>
        <p:txBody>
          <a:bodyPr/>
          <a:lstStyle/>
          <a:p>
            <a:r>
              <a:rPr lang="en-US" dirty="0"/>
              <a:t>Implementation Summary</a:t>
            </a:r>
          </a:p>
        </p:txBody>
      </p:sp>
      <p:sp>
        <p:nvSpPr>
          <p:cNvPr id="3" name="Content Placeholder 2">
            <a:extLst>
              <a:ext uri="{FF2B5EF4-FFF2-40B4-BE49-F238E27FC236}">
                <a16:creationId xmlns:a16="http://schemas.microsoft.com/office/drawing/2014/main" id="{C8304D77-1451-9953-03DA-F3CFD0F2226B}"/>
              </a:ext>
            </a:extLst>
          </p:cNvPr>
          <p:cNvSpPr>
            <a:spLocks noGrp="1"/>
          </p:cNvSpPr>
          <p:nvPr>
            <p:ph idx="1"/>
          </p:nvPr>
        </p:nvSpPr>
        <p:spPr/>
        <p:txBody>
          <a:bodyPr/>
          <a:lstStyle/>
          <a:p>
            <a:r>
              <a:rPr lang="en-US" dirty="0"/>
              <a:t>The dataset contains 14 daily weather observations. We calculated prior probabilities: P(Yes) = 9/14 and P(No) = 5/14, then applied smoothing, resulting in 0.625 and 0.375. Conditional probabilities were computed for each feature using: P(xi | Y) = (count(xi, Y) + alpha) / (count(Y) + alpha × k) We predicted new observations and validated the model using Leave-One-Out Cross-Validation. Accuracy of the hand-coded model was 50%, while </a:t>
            </a:r>
            <a:r>
              <a:rPr lang="en-US" dirty="0" err="1"/>
              <a:t>sklearn’s</a:t>
            </a:r>
            <a:r>
              <a:rPr lang="en-US" dirty="0"/>
              <a:t> </a:t>
            </a:r>
            <a:r>
              <a:rPr lang="en-US" dirty="0" err="1"/>
              <a:t>MultinomialNB</a:t>
            </a:r>
            <a:r>
              <a:rPr lang="en-US" dirty="0"/>
              <a:t> reached 64%, largely due to encoding differences</a:t>
            </a:r>
          </a:p>
        </p:txBody>
      </p:sp>
    </p:spTree>
    <p:extLst>
      <p:ext uri="{BB962C8B-B14F-4D97-AF65-F5344CB8AC3E}">
        <p14:creationId xmlns:p14="http://schemas.microsoft.com/office/powerpoint/2010/main" val="35791936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BB8F95-F77A-569F-580F-2E677A8517CA}"/>
              </a:ext>
            </a:extLst>
          </p:cNvPr>
          <p:cNvSpPr>
            <a:spLocks noGrp="1"/>
          </p:cNvSpPr>
          <p:nvPr>
            <p:ph type="title"/>
          </p:nvPr>
        </p:nvSpPr>
        <p:spPr/>
        <p:txBody>
          <a:bodyPr/>
          <a:lstStyle/>
          <a:p>
            <a:r>
              <a:rPr lang="en-US" dirty="0"/>
              <a:t>Results and Discussion</a:t>
            </a:r>
          </a:p>
        </p:txBody>
      </p:sp>
      <p:sp>
        <p:nvSpPr>
          <p:cNvPr id="3" name="Content Placeholder 2">
            <a:extLst>
              <a:ext uri="{FF2B5EF4-FFF2-40B4-BE49-F238E27FC236}">
                <a16:creationId xmlns:a16="http://schemas.microsoft.com/office/drawing/2014/main" id="{8F9A811A-EA33-D7B5-59EC-4A36659C3A73}"/>
              </a:ext>
            </a:extLst>
          </p:cNvPr>
          <p:cNvSpPr>
            <a:spLocks noGrp="1"/>
          </p:cNvSpPr>
          <p:nvPr>
            <p:ph idx="1"/>
          </p:nvPr>
        </p:nvSpPr>
        <p:spPr/>
        <p:txBody>
          <a:bodyPr/>
          <a:lstStyle/>
          <a:p>
            <a:r>
              <a:rPr lang="en-US" dirty="0"/>
              <a:t>The computed priors and likelihoods aligned with the dataset's distribution. Because rainy days occurred more often, the model assigned a higher probability to the “Yes” class. Posterior results were mathematically consistent and interpretable. The </a:t>
            </a:r>
            <a:r>
              <a:rPr lang="en-US" dirty="0" err="1"/>
              <a:t>sklearn</a:t>
            </a:r>
            <a:r>
              <a:rPr lang="en-US" dirty="0"/>
              <a:t> implementation validated correctness, confirming the model behaves as expected even with small datasets.</a:t>
            </a:r>
          </a:p>
        </p:txBody>
      </p:sp>
    </p:spTree>
    <p:extLst>
      <p:ext uri="{BB962C8B-B14F-4D97-AF65-F5344CB8AC3E}">
        <p14:creationId xmlns:p14="http://schemas.microsoft.com/office/powerpoint/2010/main" val="35856853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D0CA14-14C0-ED04-5514-3422D4CACAB4}"/>
              </a:ext>
            </a:extLst>
          </p:cNvPr>
          <p:cNvSpPr>
            <a:spLocks noGrp="1"/>
          </p:cNvSpPr>
          <p:nvPr>
            <p:ph type="title"/>
          </p:nvPr>
        </p:nvSpPr>
        <p:spPr/>
        <p:txBody>
          <a:bodyPr/>
          <a:lstStyle/>
          <a:p>
            <a:r>
              <a:rPr lang="en-US" dirty="0"/>
              <a:t>Independence Assumption</a:t>
            </a:r>
          </a:p>
        </p:txBody>
      </p:sp>
      <p:sp>
        <p:nvSpPr>
          <p:cNvPr id="3" name="Content Placeholder 2">
            <a:extLst>
              <a:ext uri="{FF2B5EF4-FFF2-40B4-BE49-F238E27FC236}">
                <a16:creationId xmlns:a16="http://schemas.microsoft.com/office/drawing/2014/main" id="{EE0128FC-17E9-BFBE-24C6-9D2317EEDA30}"/>
              </a:ext>
            </a:extLst>
          </p:cNvPr>
          <p:cNvSpPr>
            <a:spLocks noGrp="1"/>
          </p:cNvSpPr>
          <p:nvPr>
            <p:ph idx="1"/>
          </p:nvPr>
        </p:nvSpPr>
        <p:spPr/>
        <p:txBody>
          <a:bodyPr/>
          <a:lstStyle/>
          <a:p>
            <a:r>
              <a:rPr lang="en-US" dirty="0"/>
              <a:t>While features like Temperature and Humidity are often related, Naive Bayes assumes independence to simplify computation. Even when the assumption is technically wrong, classification accuracy remains surprisingly strong in many domains.</a:t>
            </a:r>
          </a:p>
        </p:txBody>
      </p:sp>
    </p:spTree>
    <p:extLst>
      <p:ext uri="{BB962C8B-B14F-4D97-AF65-F5344CB8AC3E}">
        <p14:creationId xmlns:p14="http://schemas.microsoft.com/office/powerpoint/2010/main" val="17013620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3EC9AD-2118-F24F-8C6C-D195390F7A9D}"/>
              </a:ext>
            </a:extLst>
          </p:cNvPr>
          <p:cNvSpPr>
            <a:spLocks noGrp="1"/>
          </p:cNvSpPr>
          <p:nvPr>
            <p:ph type="title"/>
          </p:nvPr>
        </p:nvSpPr>
        <p:spPr/>
        <p:txBody>
          <a:bodyPr/>
          <a:lstStyle/>
          <a:p>
            <a:r>
              <a:rPr lang="en-US" dirty="0"/>
              <a:t>Conclusion</a:t>
            </a:r>
          </a:p>
        </p:txBody>
      </p:sp>
      <p:sp>
        <p:nvSpPr>
          <p:cNvPr id="3" name="Content Placeholder 2">
            <a:extLst>
              <a:ext uri="{FF2B5EF4-FFF2-40B4-BE49-F238E27FC236}">
                <a16:creationId xmlns:a16="http://schemas.microsoft.com/office/drawing/2014/main" id="{FC122804-C6B3-8206-AA5D-8D070B7D4631}"/>
              </a:ext>
            </a:extLst>
          </p:cNvPr>
          <p:cNvSpPr>
            <a:spLocks noGrp="1"/>
          </p:cNvSpPr>
          <p:nvPr>
            <p:ph idx="1"/>
          </p:nvPr>
        </p:nvSpPr>
        <p:spPr/>
        <p:txBody>
          <a:bodyPr/>
          <a:lstStyle/>
          <a:p>
            <a:r>
              <a:rPr lang="en-US" dirty="0"/>
              <a:t>Naive Bayes remains a widely used classification method because it is both computationally efficient and easy to interpret. Implementing the model from scratch emphasized how mathematical principles such as probability theory directly power AI systems. Even simple models can produce meaningful predictions and support critical real-world applications</a:t>
            </a:r>
          </a:p>
        </p:txBody>
      </p:sp>
    </p:spTree>
    <p:extLst>
      <p:ext uri="{BB962C8B-B14F-4D97-AF65-F5344CB8AC3E}">
        <p14:creationId xmlns:p14="http://schemas.microsoft.com/office/powerpoint/2010/main" val="32504304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0778699-9E18-82D7-365D-86AF1CDD31F6}"/>
              </a:ext>
            </a:extLst>
          </p:cNvPr>
          <p:cNvPicPr>
            <a:picLocks noChangeAspect="1"/>
          </p:cNvPicPr>
          <p:nvPr/>
        </p:nvPicPr>
        <p:blipFill>
          <a:blip r:embed="rId2"/>
          <a:stretch>
            <a:fillRect/>
          </a:stretch>
        </p:blipFill>
        <p:spPr>
          <a:xfrm>
            <a:off x="2177142" y="981635"/>
            <a:ext cx="7837715" cy="4847666"/>
          </a:xfrm>
          <a:prstGeom prst="rect">
            <a:avLst/>
          </a:prstGeom>
        </p:spPr>
      </p:pic>
    </p:spTree>
    <p:extLst>
      <p:ext uri="{BB962C8B-B14F-4D97-AF65-F5344CB8AC3E}">
        <p14:creationId xmlns:p14="http://schemas.microsoft.com/office/powerpoint/2010/main" val="9581948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BB3811D-8BE3-F792-63B2-7D68912647E8}"/>
              </a:ext>
            </a:extLst>
          </p:cNvPr>
          <p:cNvPicPr>
            <a:picLocks noChangeAspect="1"/>
          </p:cNvPicPr>
          <p:nvPr/>
        </p:nvPicPr>
        <p:blipFill>
          <a:blip r:embed="rId2"/>
          <a:stretch>
            <a:fillRect/>
          </a:stretch>
        </p:blipFill>
        <p:spPr>
          <a:xfrm>
            <a:off x="2314047" y="1980998"/>
            <a:ext cx="7563906" cy="2896004"/>
          </a:xfrm>
          <a:prstGeom prst="rect">
            <a:avLst/>
          </a:prstGeom>
        </p:spPr>
      </p:pic>
    </p:spTree>
    <p:extLst>
      <p:ext uri="{BB962C8B-B14F-4D97-AF65-F5344CB8AC3E}">
        <p14:creationId xmlns:p14="http://schemas.microsoft.com/office/powerpoint/2010/main" val="15543035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9726978-16A4-C497-1945-BE8F84F6378E}"/>
              </a:ext>
            </a:extLst>
          </p:cNvPr>
          <p:cNvPicPr>
            <a:picLocks noChangeAspect="1"/>
          </p:cNvPicPr>
          <p:nvPr/>
        </p:nvPicPr>
        <p:blipFill>
          <a:blip r:embed="rId2"/>
          <a:stretch>
            <a:fillRect/>
          </a:stretch>
        </p:blipFill>
        <p:spPr>
          <a:xfrm>
            <a:off x="1035424" y="793375"/>
            <a:ext cx="9910482" cy="5183843"/>
          </a:xfrm>
          <a:prstGeom prst="rect">
            <a:avLst/>
          </a:prstGeom>
        </p:spPr>
      </p:pic>
    </p:spTree>
    <p:extLst>
      <p:ext uri="{BB962C8B-B14F-4D97-AF65-F5344CB8AC3E}">
        <p14:creationId xmlns:p14="http://schemas.microsoft.com/office/powerpoint/2010/main" val="10975543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AB69014-3CA4-BCEB-8D51-9ED5BF659EDC}"/>
              </a:ext>
            </a:extLst>
          </p:cNvPr>
          <p:cNvPicPr>
            <a:picLocks noChangeAspect="1"/>
          </p:cNvPicPr>
          <p:nvPr/>
        </p:nvPicPr>
        <p:blipFill>
          <a:blip r:embed="rId2"/>
          <a:stretch>
            <a:fillRect/>
          </a:stretch>
        </p:blipFill>
        <p:spPr>
          <a:xfrm>
            <a:off x="1714106" y="752650"/>
            <a:ext cx="8498935" cy="3779009"/>
          </a:xfrm>
          <a:prstGeom prst="rect">
            <a:avLst/>
          </a:prstGeom>
        </p:spPr>
      </p:pic>
      <p:pic>
        <p:nvPicPr>
          <p:cNvPr id="5" name="Picture 4">
            <a:extLst>
              <a:ext uri="{FF2B5EF4-FFF2-40B4-BE49-F238E27FC236}">
                <a16:creationId xmlns:a16="http://schemas.microsoft.com/office/drawing/2014/main" id="{C4B30367-8B5F-AB5B-277A-727A55CB2E1B}"/>
              </a:ext>
            </a:extLst>
          </p:cNvPr>
          <p:cNvPicPr>
            <a:picLocks noChangeAspect="1"/>
          </p:cNvPicPr>
          <p:nvPr/>
        </p:nvPicPr>
        <p:blipFill>
          <a:blip r:embed="rId3"/>
          <a:stretch>
            <a:fillRect/>
          </a:stretch>
        </p:blipFill>
        <p:spPr>
          <a:xfrm>
            <a:off x="1995553" y="4612341"/>
            <a:ext cx="7735380" cy="1493010"/>
          </a:xfrm>
          <a:prstGeom prst="rect">
            <a:avLst/>
          </a:prstGeom>
        </p:spPr>
      </p:pic>
    </p:spTree>
    <p:extLst>
      <p:ext uri="{BB962C8B-B14F-4D97-AF65-F5344CB8AC3E}">
        <p14:creationId xmlns:p14="http://schemas.microsoft.com/office/powerpoint/2010/main" val="844747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0F32CFE-0C5F-C1DC-D3B6-CDF90180266A}"/>
              </a:ext>
            </a:extLst>
          </p:cNvPr>
          <p:cNvPicPr>
            <a:picLocks noChangeAspect="1"/>
          </p:cNvPicPr>
          <p:nvPr/>
        </p:nvPicPr>
        <p:blipFill>
          <a:blip r:embed="rId2"/>
          <a:stretch>
            <a:fillRect/>
          </a:stretch>
        </p:blipFill>
        <p:spPr>
          <a:xfrm>
            <a:off x="2337863" y="1828576"/>
            <a:ext cx="7516274" cy="3200847"/>
          </a:xfrm>
          <a:prstGeom prst="rect">
            <a:avLst/>
          </a:prstGeom>
        </p:spPr>
      </p:pic>
    </p:spTree>
    <p:extLst>
      <p:ext uri="{BB962C8B-B14F-4D97-AF65-F5344CB8AC3E}">
        <p14:creationId xmlns:p14="http://schemas.microsoft.com/office/powerpoint/2010/main" val="14788846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2CF4110-3DEF-EFB1-6DA2-BA1021B06E3A}"/>
              </a:ext>
            </a:extLst>
          </p:cNvPr>
          <p:cNvPicPr>
            <a:picLocks noChangeAspect="1"/>
          </p:cNvPicPr>
          <p:nvPr/>
        </p:nvPicPr>
        <p:blipFill>
          <a:blip r:embed="rId2"/>
          <a:stretch>
            <a:fillRect/>
          </a:stretch>
        </p:blipFill>
        <p:spPr>
          <a:xfrm>
            <a:off x="2240743" y="927846"/>
            <a:ext cx="7710513" cy="5331759"/>
          </a:xfrm>
          <a:prstGeom prst="rect">
            <a:avLst/>
          </a:prstGeom>
        </p:spPr>
      </p:pic>
    </p:spTree>
    <p:extLst>
      <p:ext uri="{BB962C8B-B14F-4D97-AF65-F5344CB8AC3E}">
        <p14:creationId xmlns:p14="http://schemas.microsoft.com/office/powerpoint/2010/main" val="385157553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547B195-BAEC-C919-FB5F-AC467F496DC7}"/>
              </a:ext>
            </a:extLst>
          </p:cNvPr>
          <p:cNvPicPr>
            <a:picLocks noChangeAspect="1"/>
          </p:cNvPicPr>
          <p:nvPr/>
        </p:nvPicPr>
        <p:blipFill>
          <a:blip r:embed="rId2"/>
          <a:stretch>
            <a:fillRect/>
          </a:stretch>
        </p:blipFill>
        <p:spPr>
          <a:xfrm>
            <a:off x="2651088" y="914400"/>
            <a:ext cx="6889823" cy="5170394"/>
          </a:xfrm>
          <a:prstGeom prst="rect">
            <a:avLst/>
          </a:prstGeom>
        </p:spPr>
      </p:pic>
    </p:spTree>
    <p:extLst>
      <p:ext uri="{BB962C8B-B14F-4D97-AF65-F5344CB8AC3E}">
        <p14:creationId xmlns:p14="http://schemas.microsoft.com/office/powerpoint/2010/main" val="378575538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C11C87C-8E79-BCE4-3526-5332553BFFA6}"/>
              </a:ext>
            </a:extLst>
          </p:cNvPr>
          <p:cNvSpPr txBox="1"/>
          <p:nvPr/>
        </p:nvSpPr>
        <p:spPr>
          <a:xfrm>
            <a:off x="3046615" y="3248490"/>
            <a:ext cx="6093228" cy="369332"/>
          </a:xfrm>
          <a:prstGeom prst="rect">
            <a:avLst/>
          </a:prstGeom>
          <a:noFill/>
        </p:spPr>
        <p:txBody>
          <a:bodyPr wrap="square">
            <a:spAutoFit/>
          </a:bodyPr>
          <a:lstStyle/>
          <a:p>
            <a:r>
              <a:rPr lang="en-US" dirty="0"/>
              <a:t>Group 3 - Naive Bayes - Code.py</a:t>
            </a:r>
          </a:p>
        </p:txBody>
      </p:sp>
    </p:spTree>
    <p:extLst>
      <p:ext uri="{BB962C8B-B14F-4D97-AF65-F5344CB8AC3E}">
        <p14:creationId xmlns:p14="http://schemas.microsoft.com/office/powerpoint/2010/main" val="2334948494"/>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docProps/app.xml><?xml version="1.0" encoding="utf-8"?>
<Properties xmlns="http://schemas.openxmlformats.org/officeDocument/2006/extended-properties" xmlns:vt="http://schemas.openxmlformats.org/officeDocument/2006/docPropsVTypes">
  <Template>Organic</Template>
  <TotalTime>314</TotalTime>
  <Words>956</Words>
  <Application>Microsoft Office PowerPoint</Application>
  <PresentationFormat>Widescreen</PresentationFormat>
  <Paragraphs>38</Paragraphs>
  <Slides>23</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Garamond</vt:lpstr>
      <vt:lpstr>Organic</vt:lpstr>
      <vt:lpstr>Group 3 - Naive Bayes Classification Project</vt:lpstr>
      <vt:lpstr>Introduction</vt:lpstr>
      <vt:lpstr>Why Naive Bayes Still Matters</vt:lpstr>
      <vt:lpstr>Email &amp; Text Classification </vt:lpstr>
      <vt:lpstr>Medical Diagnostics</vt:lpstr>
      <vt:lpstr>Real-Time Recommendations</vt:lpstr>
      <vt:lpstr>Sentiment Analysis</vt:lpstr>
      <vt:lpstr>Cybersecurity Alerts</vt:lpstr>
      <vt:lpstr>PowerPoint Presentation</vt:lpstr>
      <vt:lpstr>Connecting the Project to the Course Objectives</vt:lpstr>
      <vt:lpstr>Mathematical Foundation</vt:lpstr>
      <vt:lpstr>Implementation Summary</vt:lpstr>
      <vt:lpstr>Results and Discussion</vt:lpstr>
      <vt:lpstr>Independence Assumption</vt:lpstr>
      <vt:lpstr>Conclusion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afshin tahai</dc:creator>
  <cp:lastModifiedBy>afshin tahai</cp:lastModifiedBy>
  <cp:revision>2</cp:revision>
  <dcterms:created xsi:type="dcterms:W3CDTF">2025-11-11T14:20:06Z</dcterms:created>
  <dcterms:modified xsi:type="dcterms:W3CDTF">2025-11-11T19:35:01Z</dcterms:modified>
</cp:coreProperties>
</file>